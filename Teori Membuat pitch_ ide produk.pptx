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  <p:sldMasterId id="2147483683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1" r:id="rId7"/>
    <p:sldId id="260" r:id="rId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Montserrat Black" panose="00000A00000000000000" pitchFamily="2" charset="0"/>
      <p:bold r:id="rId14"/>
      <p:boldItalic r:id="rId15"/>
    </p:embeddedFont>
    <p:embeddedFont>
      <p:font typeface="Montserrat ExtraBold" panose="00000900000000000000" pitchFamily="2" charset="0"/>
      <p:bold r:id="rId16"/>
      <p:boldItalic r:id="rId17"/>
    </p:embeddedFont>
    <p:embeddedFont>
      <p:font typeface="Montserrat Medium" panose="000006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390597A0-9B37-9754-23F6-235E47D60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:notes">
            <a:extLst>
              <a:ext uri="{FF2B5EF4-FFF2-40B4-BE49-F238E27FC236}">
                <a16:creationId xmlns:a16="http://schemas.microsoft.com/office/drawing/2014/main" id="{15F7542D-55A1-E153-9AC4-1AB25859CD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4:notes">
            <a:extLst>
              <a:ext uri="{FF2B5EF4-FFF2-40B4-BE49-F238E27FC236}">
                <a16:creationId xmlns:a16="http://schemas.microsoft.com/office/drawing/2014/main" id="{A47E6FC7-5536-BFF7-E817-C5F4C7DF6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3261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id May 2021">
  <p:cSld name="CUSTOM_1_1_1_1_1_1_1_1_1_1_3_1_1_4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суждение 1">
  <p:cSld name="CUSTOM_1_1_1_1_1_1_1_1_1_1_3_1_1_4_1_1_2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ontserrat Medium"/>
              <a:buNone/>
              <a:defRPr sz="12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4017" y="4444625"/>
            <a:ext cx="534575" cy="5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вторение">
  <p:cSld name="CUSTOM_1_1_1_1_1_1_1_1_1_1_3_1_1_4_1">
    <p:bg>
      <p:bgPr>
        <a:solidFill>
          <a:schemeClr val="lt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4"/>
          <p:cNvCxnSpPr/>
          <p:nvPr/>
        </p:nvCxnSpPr>
        <p:spPr>
          <a:xfrm>
            <a:off x="1100075" y="4775638"/>
            <a:ext cx="7663200" cy="0"/>
          </a:xfrm>
          <a:prstGeom prst="straightConnector1">
            <a:avLst/>
          </a:prstGeom>
          <a:noFill/>
          <a:ln w="19050" cap="flat" cmpd="sng">
            <a:solidFill>
              <a:srgbClr val="FFB4B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" name="Google Shape;16;p4"/>
          <p:cNvPicPr preferRelativeResize="0"/>
          <p:nvPr/>
        </p:nvPicPr>
        <p:blipFill rotWithShape="1">
          <a:blip r:embed="rId2">
            <a:alphaModFix/>
          </a:blip>
          <a:srcRect t="2651" b="2651"/>
          <a:stretch/>
        </p:blipFill>
        <p:spPr>
          <a:xfrm>
            <a:off x="8282897" y="4506549"/>
            <a:ext cx="445112" cy="36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/>
          <p:nvPr/>
        </p:nvSpPr>
        <p:spPr>
          <a:xfrm>
            <a:off x="355500" y="4628050"/>
            <a:ext cx="3160500" cy="2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FFB4B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Повторение. Устройство компьютера</a:t>
            </a:r>
            <a:endParaRPr sz="1200" b="0" i="0" u="none" strike="noStrike" cap="none">
              <a:solidFill>
                <a:srgbClr val="FFB4B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19">
          <p15:clr>
            <a:srgbClr val="FA7B17"/>
          </p15:clr>
        </p15:guide>
        <p15:guide id="16" pos="1553">
          <p15:clr>
            <a:schemeClr val="accent1"/>
          </p15:clr>
        </p15:guide>
        <p15:guide id="17" pos="1667">
          <p15:clr>
            <a:srgbClr val="FA7B17"/>
          </p15:clr>
        </p15:guide>
        <p15:guide id="18" pos="2994">
          <p15:clr>
            <a:srgbClr val="FA7B17"/>
          </p15:clr>
        </p15:guide>
        <p15:guide id="19" pos="4092">
          <p15:clr>
            <a:srgbClr val="FA7B17"/>
          </p15:clr>
        </p15:guide>
        <p15:guide id="20" pos="2880">
          <p15:clr>
            <a:srgbClr val="7E24D5"/>
          </p15:clr>
        </p15:guide>
        <p15:guide id="21" pos="4206">
          <p15:clr>
            <a:srgbClr val="7E24D5"/>
          </p15:clr>
        </p15:guide>
        <p15:guide id="22" pos="1440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суждение">
  <p:cSld name="CUSTOM_1_1_1_1_1_1_1_1_1_1_3_1_1_4_1_1">
    <p:bg>
      <p:bgPr>
        <a:solidFill>
          <a:schemeClr val="lt2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oogle Shape;19;p5"/>
          <p:cNvCxnSpPr/>
          <p:nvPr/>
        </p:nvCxnSpPr>
        <p:spPr>
          <a:xfrm>
            <a:off x="1106800" y="4772540"/>
            <a:ext cx="7675200" cy="0"/>
          </a:xfrm>
          <a:prstGeom prst="straightConnector1">
            <a:avLst/>
          </a:prstGeom>
          <a:noFill/>
          <a:ln w="19050" cap="flat" cmpd="sng">
            <a:solidFill>
              <a:srgbClr val="8EDBB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 l="13147" t="17774" r="14569" b="9440"/>
          <a:stretch/>
        </p:blipFill>
        <p:spPr>
          <a:xfrm>
            <a:off x="8357005" y="4469646"/>
            <a:ext cx="395325" cy="42746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/>
          <p:nvPr/>
        </p:nvSpPr>
        <p:spPr>
          <a:xfrm>
            <a:off x="358325" y="4628150"/>
            <a:ext cx="3160500" cy="2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8EDBB1"/>
                </a:solidFill>
                <a:highlight>
                  <a:schemeClr val="lt2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Устройство компьютера. Обсуждение</a:t>
            </a:r>
            <a:endParaRPr sz="1200" b="0" i="0" u="none" strike="noStrike" cap="none">
              <a:solidFill>
                <a:srgbClr val="8EDBB1"/>
              </a:solidFill>
              <a:highlight>
                <a:schemeClr val="lt1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овая тема">
  <p:cSld name="CUSTOM_1_1_1_1_1_1_1_1_1_1_3_1_1_4_1_1_1">
    <p:bg>
      <p:bgPr>
        <a:solidFill>
          <a:schemeClr val="lt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6"/>
          <p:cNvCxnSpPr/>
          <p:nvPr/>
        </p:nvCxnSpPr>
        <p:spPr>
          <a:xfrm>
            <a:off x="1106800" y="4774908"/>
            <a:ext cx="7675200" cy="0"/>
          </a:xfrm>
          <a:prstGeom prst="straightConnector1">
            <a:avLst/>
          </a:prstGeom>
          <a:noFill/>
          <a:ln w="19050" cap="flat" cmpd="sng">
            <a:solidFill>
              <a:srgbClr val="FFA0B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6"/>
          <p:cNvSpPr/>
          <p:nvPr/>
        </p:nvSpPr>
        <p:spPr>
          <a:xfrm>
            <a:off x="358325" y="4627299"/>
            <a:ext cx="3091800" cy="2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FFA0B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Новая тема. Устройство компьютера</a:t>
            </a:r>
            <a:endParaRPr sz="1200" b="0" i="0" u="none" strike="noStrike" cap="none">
              <a:solidFill>
                <a:srgbClr val="FFA0B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5" name="Google Shape;25;p6"/>
          <p:cNvPicPr preferRelativeResize="0"/>
          <p:nvPr/>
        </p:nvPicPr>
        <p:blipFill rotWithShape="1">
          <a:blip r:embed="rId2">
            <a:alphaModFix/>
          </a:blip>
          <a:srcRect l="15635" r="10683" b="-9914"/>
          <a:stretch/>
        </p:blipFill>
        <p:spPr>
          <a:xfrm>
            <a:off x="8395550" y="4537073"/>
            <a:ext cx="322650" cy="45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бота на платформе">
  <p:cSld name="CUSTOM_1_1_1_1_1_1_1_1_1_1_3_1_1_4_1_1_1_2">
    <p:bg>
      <p:bgPr>
        <a:solidFill>
          <a:schemeClr val="lt2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7"/>
          <p:cNvCxnSpPr/>
          <p:nvPr/>
        </p:nvCxnSpPr>
        <p:spPr>
          <a:xfrm>
            <a:off x="1106800" y="4774187"/>
            <a:ext cx="7675200" cy="0"/>
          </a:xfrm>
          <a:prstGeom prst="straightConnector1">
            <a:avLst/>
          </a:prstGeom>
          <a:noFill/>
          <a:ln w="19050" cap="flat" cmpd="sng">
            <a:solidFill>
              <a:srgbClr val="B99D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7"/>
          <p:cNvSpPr/>
          <p:nvPr/>
        </p:nvSpPr>
        <p:spPr>
          <a:xfrm>
            <a:off x="358325" y="4629797"/>
            <a:ext cx="1828800" cy="2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B99D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Работа на платформе</a:t>
            </a:r>
            <a:endParaRPr sz="1200" b="0" i="0" u="none" strike="noStrike" cap="none">
              <a:solidFill>
                <a:srgbClr val="B99DC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 l="16558" t="11212" r="8072" b="11458"/>
          <a:stretch/>
        </p:blipFill>
        <p:spPr>
          <a:xfrm>
            <a:off x="8351696" y="4487862"/>
            <a:ext cx="426275" cy="3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78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вершение урока">
  <p:cSld name="CUSTOM_1_1_1_1_1_1_1_1_1_1_3_1_1_4_1_1_1_1">
    <p:bg>
      <p:bgPr>
        <a:solidFill>
          <a:schemeClr val="lt2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Google Shape;31;p8"/>
          <p:cNvCxnSpPr/>
          <p:nvPr/>
        </p:nvCxnSpPr>
        <p:spPr>
          <a:xfrm>
            <a:off x="1108638" y="4773762"/>
            <a:ext cx="7675200" cy="0"/>
          </a:xfrm>
          <a:prstGeom prst="straightConnector1">
            <a:avLst/>
          </a:prstGeom>
          <a:noFill/>
          <a:ln w="19050" cap="flat" cmpd="sng">
            <a:solidFill>
              <a:srgbClr val="A4E7F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8"/>
          <p:cNvSpPr/>
          <p:nvPr/>
        </p:nvSpPr>
        <p:spPr>
          <a:xfrm>
            <a:off x="360150" y="4626153"/>
            <a:ext cx="1678800" cy="2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A4E7F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Завершение урока</a:t>
            </a:r>
            <a:endParaRPr sz="1200" b="0" i="0" u="none" strike="noStrike" cap="none">
              <a:solidFill>
                <a:srgbClr val="A4E7FA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3" name="Google Shape;33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41799" y="4325375"/>
            <a:ext cx="529050" cy="4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суждение">
  <p:cSld name="CUSTOM_1_1_1_1_1_1_1_1_1_1_3_1_1_4_1_1"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ontserrat Medium"/>
              <a:buNone/>
              <a:defRPr sz="12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41" name="Google Shape;41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4017" y="4444625"/>
            <a:ext cx="534575" cy="5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 Май 2021">
  <p:cSld name="CUSTOM_1_1_1_1_1_1_1_1_1_1_3_1_1_4">
    <p:bg>
      <p:bgPr>
        <a:solidFill>
          <a:schemeClr val="accen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/>
        </p:nvSpPr>
        <p:spPr>
          <a:xfrm>
            <a:off x="636830" y="4404303"/>
            <a:ext cx="19875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Скачать методичку</a:t>
            </a:r>
            <a:endParaRPr sz="1400" b="0" i="0" u="none" strike="noStrike" cap="non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9926" y="4596227"/>
            <a:ext cx="266925" cy="2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925" y="345875"/>
            <a:ext cx="1756800" cy="4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352925" y="1473400"/>
            <a:ext cx="8108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352925" y="1859151"/>
            <a:ext cx="4224300" cy="2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 b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 b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 b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 b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 b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 b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 b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 b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 b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 Май 2021 1">
  <p:cSld name="CUSTOM_1_1_1_1_1_1_1_1_1_1_3_1_1_4_5">
    <p:bg>
      <p:bgPr>
        <a:solidFill>
          <a:schemeClr val="accen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2925" y="345875"/>
            <a:ext cx="1756800" cy="4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352925" y="1473400"/>
            <a:ext cx="8108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>
            <a:off x="352925" y="1859150"/>
            <a:ext cx="4219200" cy="2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 b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 b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 b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 b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 b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 b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 b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 b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 b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 «Повторение»">
  <p:cSld name="CUSTOM_1_1_1_1_1_1_1_1_1_1_3_1_1_4_4">
    <p:bg>
      <p:bgPr>
        <a:solidFill>
          <a:schemeClr val="accent2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t="1900" r="-8236" b="-1897"/>
          <a:stretch/>
        </p:blipFill>
        <p:spPr>
          <a:xfrm>
            <a:off x="6801225" y="3159807"/>
            <a:ext cx="1822349" cy="154589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 «Новая тема»">
  <p:cSld name="CUSTOM_1_1_1_1_1_1_1_1_1_1_3_1_1_4_4_1">
    <p:bg>
      <p:bgPr>
        <a:solidFill>
          <a:schemeClr val="accent5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>
            <a:spLocks noGrp="1"/>
          </p:cNvSpPr>
          <p:nvPr>
            <p:ph type="subTitle" idx="1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l="-11184" t="60" r="-21335" b="-58"/>
          <a:stretch/>
        </p:blipFill>
        <p:spPr>
          <a:xfrm>
            <a:off x="6759550" y="3011700"/>
            <a:ext cx="1950027" cy="165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 «Обсуждение»">
  <p:cSld name="CUSTOM_1_1_1_1_1_1_1_1_1_1_3_1_1_4_4_1_1">
    <p:bg>
      <p:bgPr>
        <a:solidFill>
          <a:schemeClr val="accent4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>
            <a:spLocks noGrp="1"/>
          </p:cNvSpPr>
          <p:nvPr>
            <p:ph type="subTitle" idx="1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t="-2827" r="-33743"/>
          <a:stretch/>
        </p:blipFill>
        <p:spPr>
          <a:xfrm>
            <a:off x="6912650" y="2968400"/>
            <a:ext cx="2001076" cy="169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 «Групповая работа»">
  <p:cSld name="CUSTOM_1_1_1_1_1_1_1_1_1_1_3_1_1_4_4_1_1_1">
    <p:bg>
      <p:bgPr>
        <a:solidFill>
          <a:schemeClr val="lt2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>
            <a:spLocks noGrp="1"/>
          </p:cNvSpPr>
          <p:nvPr>
            <p:ph type="subTitle" idx="1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3375" y="3011700"/>
            <a:ext cx="2748550" cy="165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 «Работа на платформе»">
  <p:cSld name="CUSTOM_1_1_1_1_1_1_1_1_1_1_3_1_1_4_4_1_1_1_1">
    <p:bg>
      <p:bgPr>
        <a:solidFill>
          <a:schemeClr val="accen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>
            <a:spLocks noGrp="1"/>
          </p:cNvSpPr>
          <p:nvPr>
            <p:ph type="subTitle" idx="1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 r="-8260"/>
          <a:stretch/>
        </p:blipFill>
        <p:spPr>
          <a:xfrm>
            <a:off x="6414050" y="2927125"/>
            <a:ext cx="2049726" cy="173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 «Перерыв»">
  <p:cSld name="CUSTOM_1_1_1_1_1_1_1_1_1_1_3_1_1_4_4_1_1_1_1_1">
    <p:bg>
      <p:bgPr>
        <a:solidFill>
          <a:schemeClr val="accent6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>
            <a:spLocks noGrp="1"/>
          </p:cNvSpPr>
          <p:nvPr>
            <p:ph type="subTitle" idx="1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3">
            <a:alphaModFix/>
          </a:blip>
          <a:srcRect l="-5793" r="-4349"/>
          <a:stretch/>
        </p:blipFill>
        <p:spPr>
          <a:xfrm>
            <a:off x="6589951" y="3011700"/>
            <a:ext cx="1950026" cy="16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 «Физкультминутка»">
  <p:cSld name="CUSTOM_1_1_1_1_1_1_1_1_1_1_3_1_1_4_4_1_1_1_1_1_1">
    <p:bg>
      <p:bgPr>
        <a:solidFill>
          <a:schemeClr val="accent6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9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>
            <a:spLocks noGrp="1"/>
          </p:cNvSpPr>
          <p:nvPr>
            <p:ph type="subTitle" idx="1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0113" y="3011700"/>
            <a:ext cx="2093949" cy="16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 «Завершение урока»">
  <p:cSld name="CUSTOM_1_1_1_1_1_1_1_1_1_1_3_1_1_4_4_1_1_1_1_1_1_1">
    <p:bg>
      <p:bgPr>
        <a:solidFill>
          <a:schemeClr val="accent3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0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>
            <a:spLocks noGrp="1"/>
          </p:cNvSpPr>
          <p:nvPr>
            <p:ph type="subTitle" idx="1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53600" y="3108084"/>
            <a:ext cx="2674100" cy="1557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 «Демонстрация работы»">
  <p:cSld name="CUSTOM_1_1_1_1_1_1_1_1_1_1_3_1_1_4_4_1_1_1_1_1_1_1_1">
    <p:bg>
      <p:bgPr>
        <a:solidFill>
          <a:srgbClr val="C291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1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>
            <a:spLocks noGrp="1"/>
          </p:cNvSpPr>
          <p:nvPr>
            <p:ph type="subTitle" idx="1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 rotWithShape="1">
          <a:blip r:embed="rId3">
            <a:alphaModFix/>
          </a:blip>
          <a:srcRect l="-3199" t="3864" b="-6397"/>
          <a:stretch/>
        </p:blipFill>
        <p:spPr>
          <a:xfrm>
            <a:off x="6768750" y="3069172"/>
            <a:ext cx="1606549" cy="1509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 May 2021">
  <p:cSld name="CUSTOM_1_1_1_1_1_1_1_1_1_1_3_1_1_4_3"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вторение">
  <p:cSld name="CUSTOM_1_1_1_1_1_1_1_1_1_1_3_1_1_4_2"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3"/>
          <p:cNvSpPr txBox="1">
            <a:spLocks noGrp="1"/>
          </p:cNvSpPr>
          <p:nvPr>
            <p:ph type="subTitle" idx="1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Medium"/>
              <a:buNone/>
              <a:defRPr sz="12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119" name="Google Shape;119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68100" y="4456389"/>
            <a:ext cx="627842" cy="5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вторение. Заголовок. Текст.">
  <p:cSld name="CUSTOM_1_1_1_1_1_1_1_1_1_1_3_1_1_4_2_1"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4"/>
          <p:cNvSpPr txBox="1">
            <a:spLocks noGrp="1"/>
          </p:cNvSpPr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body" idx="1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ubTitle" idx="2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Medium"/>
              <a:buNone/>
              <a:defRPr sz="12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125" name="Google Shape;12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68100" y="4456389"/>
            <a:ext cx="627842" cy="5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суждение. Заголовок. Текст.">
  <p:cSld name="CUSTOM_1_1_1_1_1_1_1_1_1_1_3_1_1_4_1_1_2"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5"/>
          <p:cNvSpPr txBox="1">
            <a:spLocks noGrp="1"/>
          </p:cNvSpPr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body" idx="1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ubTitle" idx="2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ontserrat Medium"/>
              <a:buNone/>
              <a:defRPr sz="12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24017" y="4444625"/>
            <a:ext cx="534575" cy="5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овая тема">
  <p:cSld name="CUSTOM_1_1_1_1_1_1_1_1_1_1_3_1_1_4_1_1_1"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6"/>
          <p:cNvSpPr txBox="1">
            <a:spLocks noGrp="1"/>
          </p:cNvSpPr>
          <p:nvPr>
            <p:ph type="subTitle" idx="1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 Medium"/>
              <a:buNone/>
              <a:defRPr sz="1200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135" name="Google Shape;135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2736" y="4445275"/>
            <a:ext cx="531725" cy="5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Новая тема. Заголовок. Текст.">
  <p:cSld name="CUSTOM_1_1_1_1_1_1_1_1_1_1_3_1_1_4_1_1_1_3">
    <p:bg>
      <p:bgPr>
        <a:solidFill>
          <a:schemeClr val="lt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7"/>
          <p:cNvSpPr txBox="1">
            <a:spLocks noGrp="1"/>
          </p:cNvSpPr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39" name="Google Shape;139;p27"/>
          <p:cNvSpPr txBox="1">
            <a:spLocks noGrp="1"/>
          </p:cNvSpPr>
          <p:nvPr>
            <p:ph type="body" idx="1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subTitle" idx="2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 Medium"/>
              <a:buNone/>
              <a:defRPr sz="1200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141" name="Google Shape;141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2736" y="4445275"/>
            <a:ext cx="531725" cy="5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бота на платформе">
  <p:cSld name="CUSTOM_1_1_1_1_1_1_1_1_1_1_3_1_1_4_1_1_1_2"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8"/>
          <p:cNvSpPr txBox="1">
            <a:spLocks noGrp="1"/>
          </p:cNvSpPr>
          <p:nvPr>
            <p:ph type="subTitle" idx="1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 Medium"/>
              <a:buNone/>
              <a:defRPr sz="12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145" name="Google Shape;145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12278" y="4422100"/>
            <a:ext cx="676445" cy="62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бота на платформе. Заголовок. Текст.">
  <p:cSld name="CUSTOM_1_1_1_1_1_1_1_1_1_1_3_1_1_4_1_1_1_2_1"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9"/>
          <p:cNvSpPr txBox="1">
            <a:spLocks noGrp="1"/>
          </p:cNvSpPr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9" name="Google Shape;149;p29"/>
          <p:cNvSpPr txBox="1">
            <a:spLocks noGrp="1"/>
          </p:cNvSpPr>
          <p:nvPr>
            <p:ph type="body" idx="1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50" name="Google Shape;150;p29"/>
          <p:cNvSpPr txBox="1">
            <a:spLocks noGrp="1"/>
          </p:cNvSpPr>
          <p:nvPr>
            <p:ph type="subTitle" idx="2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 Medium"/>
              <a:buNone/>
              <a:defRPr sz="12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151" name="Google Shape;151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12278" y="4422100"/>
            <a:ext cx="676445" cy="62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вершение урока">
  <p:cSld name="CUSTOM_1_1_1_1_1_1_1_1_1_1_3_1_1_4_1_1_1_1">
    <p:bg>
      <p:bgPr>
        <a:solidFill>
          <a:schemeClr val="lt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0"/>
          <p:cNvSpPr txBox="1">
            <a:spLocks noGrp="1"/>
          </p:cNvSpPr>
          <p:nvPr>
            <p:ph type="subTitle" idx="1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Montserrat Medium"/>
              <a:buNone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155" name="Google Shape;15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65728" y="4457800"/>
            <a:ext cx="990461" cy="57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вершение урока. Заголовок. Текст.">
  <p:cSld name="CUSTOM_1_1_1_1_1_1_1_1_1_1_3_1_1_4_1_1_1_1_2">
    <p:bg>
      <p:bgPr>
        <a:solidFill>
          <a:schemeClr val="lt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1"/>
          <p:cNvSpPr txBox="1">
            <a:spLocks noGrp="1"/>
          </p:cNvSpPr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9" name="Google Shape;159;p31"/>
          <p:cNvSpPr txBox="1">
            <a:spLocks noGrp="1"/>
          </p:cNvSpPr>
          <p:nvPr>
            <p:ph type="body" idx="1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60" name="Google Shape;160;p31"/>
          <p:cNvSpPr txBox="1">
            <a:spLocks noGrp="1"/>
          </p:cNvSpPr>
          <p:nvPr>
            <p:ph type="subTitle" idx="2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Montserrat Medium"/>
              <a:buNone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161" name="Google Shape;161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65728" y="4457800"/>
            <a:ext cx="990461" cy="57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зкультминутка. Заголовок. Текст.">
  <p:cSld name="CUSTOM_1_1_1_1_1_1_1_1_1_1_3_1_1_4_1_1_1_1_1"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2"/>
          <p:cNvSpPr/>
          <p:nvPr/>
        </p:nvSpPr>
        <p:spPr>
          <a:xfrm>
            <a:off x="360000" y="4680000"/>
            <a:ext cx="6346200" cy="22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Физультминутка</a:t>
            </a:r>
            <a:endParaRPr sz="1200" b="0" i="0" u="none" strike="noStrike" cap="none">
              <a:solidFill>
                <a:schemeClr val="accent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5" name="Google Shape;165;p32"/>
          <p:cNvSpPr txBox="1">
            <a:spLocks noGrp="1"/>
          </p:cNvSpPr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6" name="Google Shape;166;p32"/>
          <p:cNvSpPr txBox="1">
            <a:spLocks noGrp="1"/>
          </p:cNvSpPr>
          <p:nvPr>
            <p:ph type="body" idx="1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pic>
        <p:nvPicPr>
          <p:cNvPr id="167" name="Google Shape;16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59631" y="4434850"/>
            <a:ext cx="764300" cy="60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зкультминутка">
  <p:cSld name="CUSTOM_1_1_1_1_1_1_1_1_1_1_3_1_1_4_1_1_1_1_1_2"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3"/>
          <p:cNvSpPr/>
          <p:nvPr/>
        </p:nvSpPr>
        <p:spPr>
          <a:xfrm>
            <a:off x="360000" y="4680000"/>
            <a:ext cx="6346200" cy="22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Перерыв</a:t>
            </a:r>
            <a:endParaRPr sz="1200" b="0" i="0" u="none" strike="noStrike" cap="none">
              <a:solidFill>
                <a:schemeClr val="accent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75017" y="4422325"/>
            <a:ext cx="655910" cy="61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емонстрация работы в редакторе">
  <p:cSld name="CUSTOM_1_1_1_1_1_1_1_1_1_1_3_1_1_4_1_1_1_1_1_2_1">
    <p:bg>
      <p:bgPr>
        <a:solidFill>
          <a:schemeClr val="l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rgbClr val="C29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4"/>
          <p:cNvSpPr txBox="1">
            <a:spLocks noGrp="1"/>
          </p:cNvSpPr>
          <p:nvPr>
            <p:ph type="subTitle" idx="1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91FF"/>
              </a:buClr>
              <a:buSzPts val="1200"/>
              <a:buFont typeface="Montserrat Medium"/>
              <a:buNone/>
              <a:defRPr sz="1200">
                <a:solidFill>
                  <a:srgbClr val="C291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175" name="Google Shape;175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84425" y="4415281"/>
            <a:ext cx="591157" cy="56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рупповая работа">
  <p:cSld name="CUSTOM_1_1_1_1_1_1_1_1_1_1_3_1_1_4_1_1_1_1_1_1">
    <p:bg>
      <p:bgPr>
        <a:solidFill>
          <a:schemeClr val="lt1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5"/>
          <p:cNvSpPr txBox="1">
            <a:spLocks noGrp="1"/>
          </p:cNvSpPr>
          <p:nvPr>
            <p:ph type="subTitle" idx="1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179" name="Google Shape;179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09563" y="4453277"/>
            <a:ext cx="975600" cy="586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рупповая работа. Заголовок. Текст.">
  <p:cSld name="CUSTOM_1_1_1_1_1_1_1_1_1_1_3_1_1_4_1_1_1_1_1_1_1"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6"/>
          <p:cNvSpPr txBox="1">
            <a:spLocks noGrp="1"/>
          </p:cNvSpPr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3" name="Google Shape;183;p36"/>
          <p:cNvSpPr txBox="1">
            <a:spLocks noGrp="1"/>
          </p:cNvSpPr>
          <p:nvPr>
            <p:ph type="body" idx="1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pic>
        <p:nvPicPr>
          <p:cNvPr id="184" name="Google Shape;18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09563" y="4453277"/>
            <a:ext cx="975600" cy="58685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6"/>
          <p:cNvSpPr txBox="1">
            <a:spLocks noGrp="1"/>
          </p:cNvSpPr>
          <p:nvPr>
            <p:ph type="subTitle" idx="2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33.xml"/><Relationship Id="rId3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32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2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30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6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67025" y="367025"/>
            <a:ext cx="84171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67025" y="973450"/>
            <a:ext cx="8417100" cy="3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○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■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○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■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○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■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27">
          <p15:clr>
            <a:srgbClr val="FF0000"/>
          </p15:clr>
        </p15:guide>
        <p15:guide id="2" orient="horz" pos="227">
          <p15:clr>
            <a:srgbClr val="FF0000"/>
          </p15:clr>
        </p15:guide>
        <p15:guide id="3" orient="horz" pos="3013">
          <p15:clr>
            <a:srgbClr val="FF0000"/>
          </p15:clr>
        </p15:guide>
        <p15:guide id="4" pos="5533">
          <p15:clr>
            <a:srgbClr val="FF000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367025" y="367025"/>
            <a:ext cx="8417100" cy="5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367025" y="973450"/>
            <a:ext cx="8417100" cy="3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○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■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○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■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●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○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Char char="■"/>
              <a:defRPr sz="16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27">
          <p15:clr>
            <a:srgbClr val="FF0000"/>
          </p15:clr>
        </p15:guide>
        <p15:guide id="2" orient="horz" pos="227">
          <p15:clr>
            <a:srgbClr val="FF0000"/>
          </p15:clr>
        </p15:guide>
        <p15:guide id="3" orient="horz" pos="3013">
          <p15:clr>
            <a:srgbClr val="FF0000"/>
          </p15:clr>
        </p15:guide>
        <p15:guide id="4" pos="5533">
          <p15:clr>
            <a:srgbClr val="FF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C75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7"/>
          <p:cNvSpPr txBox="1"/>
          <p:nvPr/>
        </p:nvSpPr>
        <p:spPr>
          <a:xfrm>
            <a:off x="639371" y="1144938"/>
            <a:ext cx="4537064" cy="368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dirty="0">
              <a:solidFill>
                <a:srgbClr val="602B7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 b="1" dirty="0">
                <a:solidFill>
                  <a:srgbClr val="602B7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Spotify Analytics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 dirty="0">
                <a:solidFill>
                  <a:srgbClr val="602B7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2015-2025</a:t>
            </a:r>
            <a:endParaRPr sz="3200" b="1" dirty="0">
              <a:solidFill>
                <a:srgbClr val="602B7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91" name="Google Shape;191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994850"/>
            <a:ext cx="4211999" cy="3224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 txBox="1"/>
          <p:nvPr/>
        </p:nvSpPr>
        <p:spPr>
          <a:xfrm>
            <a:off x="360000" y="344502"/>
            <a:ext cx="8424000" cy="1267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800" b="0" i="0" u="none" strike="noStrike" cap="none" dirty="0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Spotify Analytics (How to </a:t>
            </a:r>
            <a:r>
              <a:rPr lang="en" sz="2800" dirty="0">
                <a:latin typeface="Montserrat Black"/>
                <a:ea typeface="Montserrat Black"/>
                <a:cs typeface="Montserrat Black"/>
                <a:sym typeface="Montserrat Black"/>
              </a:rPr>
              <a:t>Make Popular Song)</a:t>
            </a:r>
            <a:endParaRPr sz="2800" b="0" i="0" u="none" strike="noStrike" cap="none" dirty="0">
              <a:solidFill>
                <a:srgbClr val="000000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97" name="Google Shape;197;p38"/>
          <p:cNvSpPr txBox="1"/>
          <p:nvPr/>
        </p:nvSpPr>
        <p:spPr>
          <a:xfrm>
            <a:off x="360000" y="1529166"/>
            <a:ext cx="8424000" cy="17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latin typeface="Montserrat"/>
                <a:ea typeface="Montserrat"/>
                <a:cs typeface="Montserrat"/>
                <a:sym typeface="Montserrat"/>
              </a:rPr>
              <a:t>Pasar: Band, Musisi, 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latin typeface="Montserrat"/>
                <a:ea typeface="Montserrat"/>
                <a:cs typeface="Montserrat"/>
                <a:sym typeface="Montserrat"/>
              </a:rPr>
              <a:t>Target audiens: Musisi, Band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Memberikan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 data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bisa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dijadikan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acuan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untuk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membuat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lagu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populer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/>
        </p:nvSpPr>
        <p:spPr>
          <a:xfrm>
            <a:off x="360000" y="360000"/>
            <a:ext cx="7390800" cy="6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800" b="0" i="0" u="none" strike="noStrike" cap="none" dirty="0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Top 10 Genres </a:t>
            </a:r>
            <a:r>
              <a:rPr lang="en" sz="2800" dirty="0">
                <a:latin typeface="Montserrat Black"/>
                <a:ea typeface="Montserrat Black"/>
                <a:cs typeface="Montserrat Black"/>
                <a:sym typeface="Montserrat Black"/>
              </a:rPr>
              <a:t>B</a:t>
            </a:r>
            <a:r>
              <a:rPr lang="en" sz="2800" b="0" i="0" u="none" strike="noStrike" cap="none" dirty="0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ased on </a:t>
            </a:r>
            <a:r>
              <a:rPr lang="en" sz="2800" dirty="0">
                <a:latin typeface="Montserrat Black"/>
                <a:ea typeface="Montserrat Black"/>
                <a:cs typeface="Montserrat Black"/>
                <a:sym typeface="Montserrat Black"/>
              </a:rPr>
              <a:t>P</a:t>
            </a:r>
            <a:r>
              <a:rPr lang="en" sz="2800" b="0" i="0" u="none" strike="noStrike" cap="none" dirty="0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opularity</a:t>
            </a:r>
            <a:endParaRPr sz="2800" b="0" i="0" u="none" strike="noStrike" cap="none" dirty="0">
              <a:solidFill>
                <a:srgbClr val="000000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07" name="Google Shape;207;p39"/>
          <p:cNvSpPr txBox="1"/>
          <p:nvPr/>
        </p:nvSpPr>
        <p:spPr>
          <a:xfrm>
            <a:off x="5910354" y="1274217"/>
            <a:ext cx="2651700" cy="215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2AE82E-6E76-0101-84C4-070A78F01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1039693"/>
            <a:ext cx="5237145" cy="29321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27A42F-3A4F-87E6-1AB5-BD95A26E5984}"/>
              </a:ext>
            </a:extLst>
          </p:cNvPr>
          <p:cNvSpPr txBox="1"/>
          <p:nvPr/>
        </p:nvSpPr>
        <p:spPr>
          <a:xfrm>
            <a:off x="5682499" y="1185529"/>
            <a:ext cx="31074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Genre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Pop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menempati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urutan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pertama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dengan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popularitas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tertinggi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Tidak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perbedaan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yang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signifikan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antar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genre.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P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erbedaan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antara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peringkat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(Pop) dan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peringkat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 (Rock) sangat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kecil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0"/>
          <p:cNvSpPr txBox="1"/>
          <p:nvPr/>
        </p:nvSpPr>
        <p:spPr>
          <a:xfrm>
            <a:off x="366775" y="314399"/>
            <a:ext cx="8417100" cy="77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Average Popularity of Pop Songs by Release Month</a:t>
            </a:r>
            <a:endParaRPr sz="2400" b="0" i="0" u="none" strike="noStrike" cap="none" dirty="0">
              <a:solidFill>
                <a:srgbClr val="000000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21" name="Google Shape;221;p40"/>
          <p:cNvSpPr txBox="1"/>
          <p:nvPr/>
        </p:nvSpPr>
        <p:spPr>
          <a:xfrm>
            <a:off x="5837707" y="1194489"/>
            <a:ext cx="2841343" cy="256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Rata-rata </a:t>
            </a:r>
            <a:r>
              <a:rPr lang="en-US" dirty="0" err="1"/>
              <a:t>popularitas</a:t>
            </a:r>
            <a:r>
              <a:rPr lang="en-US" dirty="0"/>
              <a:t> </a:t>
            </a:r>
            <a:r>
              <a:rPr lang="en-US" dirty="0" err="1"/>
              <a:t>tertinggi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lagu</a:t>
            </a:r>
            <a:r>
              <a:rPr lang="en-US" dirty="0"/>
              <a:t> pop </a:t>
            </a:r>
            <a:r>
              <a:rPr lang="en-US" dirty="0" err="1"/>
              <a:t>terjadi</a:t>
            </a:r>
            <a:r>
              <a:rPr lang="en-US" dirty="0"/>
              <a:t> pada </a:t>
            </a:r>
            <a:r>
              <a:rPr lang="en-US" dirty="0" err="1"/>
              <a:t>bulan</a:t>
            </a:r>
            <a:r>
              <a:rPr lang="en-US" dirty="0"/>
              <a:t> April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skor</a:t>
            </a:r>
            <a:r>
              <a:rPr lang="en-US" dirty="0"/>
              <a:t> rata-rata </a:t>
            </a:r>
            <a:r>
              <a:rPr lang="en-US" dirty="0" err="1"/>
              <a:t>mencapai</a:t>
            </a:r>
            <a:r>
              <a:rPr lang="en-US" dirty="0"/>
              <a:t> 48,4+.</a:t>
            </a:r>
          </a:p>
          <a:p>
            <a:pPr lvl="0">
              <a:buSzPts val="1400"/>
            </a:pPr>
            <a:endParaRPr lang="en-US"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Rata-rata </a:t>
            </a:r>
            <a:r>
              <a:rPr lang="en-US" dirty="0" err="1"/>
              <a:t>Popularitas</a:t>
            </a:r>
            <a:r>
              <a:rPr lang="en-US" dirty="0"/>
              <a:t> </a:t>
            </a:r>
            <a:r>
              <a:rPr lang="en-US" dirty="0" err="1"/>
              <a:t>terendah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pada </a:t>
            </a:r>
            <a:r>
              <a:rPr lang="en-US" dirty="0" err="1"/>
              <a:t>bulan</a:t>
            </a:r>
            <a:r>
              <a:rPr lang="en-US" dirty="0"/>
              <a:t> </a:t>
            </a:r>
            <a:r>
              <a:rPr lang="en-US" dirty="0" err="1"/>
              <a:t>Februari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skor</a:t>
            </a:r>
            <a:r>
              <a:rPr lang="en-US" dirty="0"/>
              <a:t> rata-rata </a:t>
            </a:r>
            <a:r>
              <a:rPr lang="en-US" dirty="0" err="1"/>
              <a:t>dibawah</a:t>
            </a:r>
            <a:r>
              <a:rPr lang="en-US" dirty="0"/>
              <a:t> 48.</a:t>
            </a:r>
            <a:endParaRPr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D01FCC-B7F0-40F0-1AF7-CE9B2ACE3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75" y="1194489"/>
            <a:ext cx="4915917" cy="31450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3">
          <a:extLst>
            <a:ext uri="{FF2B5EF4-FFF2-40B4-BE49-F238E27FC236}">
              <a16:creationId xmlns:a16="http://schemas.microsoft.com/office/drawing/2014/main" id="{8FF21F6E-F384-01E4-EB42-B4FCD1182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0">
            <a:extLst>
              <a:ext uri="{FF2B5EF4-FFF2-40B4-BE49-F238E27FC236}">
                <a16:creationId xmlns:a16="http://schemas.microsoft.com/office/drawing/2014/main" id="{3A6981F6-E4EB-92D6-6D86-2A674E603BB9}"/>
              </a:ext>
            </a:extLst>
          </p:cNvPr>
          <p:cNvSpPr txBox="1"/>
          <p:nvPr/>
        </p:nvSpPr>
        <p:spPr>
          <a:xfrm>
            <a:off x="366775" y="314399"/>
            <a:ext cx="8417100" cy="77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Average Popularity of Pop Songs by </a:t>
            </a:r>
            <a:r>
              <a:rPr lang="en-US" sz="2400" dirty="0">
                <a:latin typeface="Montserrat Black"/>
                <a:ea typeface="Montserrat Black"/>
                <a:cs typeface="Montserrat Black"/>
                <a:sym typeface="Montserrat Black"/>
              </a:rPr>
              <a:t>Country</a:t>
            </a:r>
            <a:endParaRPr sz="2400" b="0" i="0" u="none" strike="noStrike" cap="none" dirty="0">
              <a:solidFill>
                <a:srgbClr val="000000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21" name="Google Shape;221;p40">
            <a:extLst>
              <a:ext uri="{FF2B5EF4-FFF2-40B4-BE49-F238E27FC236}">
                <a16:creationId xmlns:a16="http://schemas.microsoft.com/office/drawing/2014/main" id="{EA0210AC-7D1A-0DA8-5541-1F49CBB8A961}"/>
              </a:ext>
            </a:extLst>
          </p:cNvPr>
          <p:cNvSpPr txBox="1"/>
          <p:nvPr/>
        </p:nvSpPr>
        <p:spPr>
          <a:xfrm>
            <a:off x="5935882" y="1289825"/>
            <a:ext cx="2841343" cy="256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Rata-rata </a:t>
            </a:r>
            <a:r>
              <a:rPr lang="en-US" dirty="0" err="1"/>
              <a:t>popularitas</a:t>
            </a:r>
            <a:r>
              <a:rPr lang="en-US" dirty="0"/>
              <a:t> </a:t>
            </a:r>
            <a:r>
              <a:rPr lang="en-US" dirty="0" err="1"/>
              <a:t>tertinggi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lagu</a:t>
            </a:r>
            <a:r>
              <a:rPr lang="en-US" dirty="0"/>
              <a:t> pop </a:t>
            </a:r>
            <a:r>
              <a:rPr lang="en-US" dirty="0" err="1"/>
              <a:t>terjadi</a:t>
            </a:r>
            <a:r>
              <a:rPr lang="en-US" dirty="0"/>
              <a:t> di negara </a:t>
            </a:r>
            <a:r>
              <a:rPr lang="en-US" dirty="0" err="1"/>
              <a:t>Prancis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skor</a:t>
            </a:r>
            <a:r>
              <a:rPr lang="en-US" dirty="0"/>
              <a:t> rata-rata 49+.</a:t>
            </a:r>
            <a:endParaRPr lang="en-US"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Rata-rata </a:t>
            </a:r>
            <a:r>
              <a:rPr lang="en-US" dirty="0" err="1"/>
              <a:t>Popularitas</a:t>
            </a:r>
            <a:r>
              <a:rPr lang="en-US" dirty="0"/>
              <a:t> </a:t>
            </a:r>
            <a:r>
              <a:rPr lang="en-US" dirty="0" err="1"/>
              <a:t>terendah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di negara Amerika,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skor</a:t>
            </a:r>
            <a:r>
              <a:rPr lang="en-US" dirty="0"/>
              <a:t> rata-rata </a:t>
            </a:r>
            <a:r>
              <a:rPr lang="en-US" dirty="0" err="1"/>
              <a:t>dibawah</a:t>
            </a:r>
            <a:r>
              <a:rPr lang="en-US" dirty="0"/>
              <a:t> 48.</a:t>
            </a:r>
            <a:endParaRPr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48D9C8-7C29-B0E7-5763-8451B6886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75" y="1194489"/>
            <a:ext cx="5343452" cy="345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379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 txBox="1"/>
          <p:nvPr/>
        </p:nvSpPr>
        <p:spPr>
          <a:xfrm>
            <a:off x="360000" y="360000"/>
            <a:ext cx="7390800" cy="6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800">
                <a:latin typeface="Montserrat Black"/>
                <a:ea typeface="Montserrat Black"/>
                <a:cs typeface="Montserrat Black"/>
                <a:sym typeface="Montserrat Black"/>
              </a:rPr>
              <a:t>Mari kita simpulkan hasilnya</a:t>
            </a:r>
            <a:endParaRPr sz="2800" b="0" i="0" u="none" strike="noStrike" cap="none">
              <a:solidFill>
                <a:srgbClr val="000000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27" name="Google Shape;227;p41"/>
          <p:cNvSpPr txBox="1">
            <a:spLocks noGrp="1"/>
          </p:cNvSpPr>
          <p:nvPr>
            <p:ph type="subTitle" idx="1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/>
          </a:p>
        </p:txBody>
      </p:sp>
      <p:sp>
        <p:nvSpPr>
          <p:cNvPr id="228" name="Google Shape;228;p41"/>
          <p:cNvSpPr txBox="1"/>
          <p:nvPr/>
        </p:nvSpPr>
        <p:spPr>
          <a:xfrm>
            <a:off x="368800" y="1191600"/>
            <a:ext cx="6894900" cy="22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Montserrat"/>
              <a:buChar char="➔"/>
            </a:pPr>
            <a:r>
              <a:rPr lang="en" sz="2000" dirty="0">
                <a:latin typeface="+mn-lt"/>
                <a:ea typeface="Montserrat"/>
                <a:cs typeface="Montserrat"/>
                <a:sym typeface="Montserrat"/>
              </a:rPr>
              <a:t>Genre Pop merupakan genre paling populer dari tahun 2015-2025.</a:t>
            </a:r>
            <a:endParaRPr sz="2000" dirty="0">
              <a:latin typeface="+mn-lt"/>
              <a:ea typeface="Montserrat"/>
              <a:cs typeface="Montserrat"/>
              <a:sym typeface="Montserrat"/>
            </a:endParaRPr>
          </a:p>
          <a:p>
            <a:pPr marL="457200" lvl="0" indent="-355600">
              <a:lnSpc>
                <a:spcPct val="115000"/>
              </a:lnSpc>
              <a:spcBef>
                <a:spcPts val="1000"/>
              </a:spcBef>
              <a:buSzPts val="2000"/>
              <a:buFont typeface="Montserrat"/>
              <a:buChar char="➔"/>
            </a:pPr>
            <a:r>
              <a:rPr lang="en-US" sz="2000" dirty="0">
                <a:latin typeface="+mn-lt"/>
              </a:rPr>
              <a:t>Rata-rata </a:t>
            </a:r>
            <a:r>
              <a:rPr lang="en-US" sz="2000" dirty="0" err="1">
                <a:latin typeface="+mn-lt"/>
              </a:rPr>
              <a:t>popularitas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tertinggi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untuk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lagu</a:t>
            </a:r>
            <a:r>
              <a:rPr lang="en-US" sz="2000" dirty="0">
                <a:latin typeface="+mn-lt"/>
              </a:rPr>
              <a:t> pop </a:t>
            </a:r>
            <a:r>
              <a:rPr lang="en-US" sz="2000" dirty="0" err="1">
                <a:latin typeface="+mn-lt"/>
              </a:rPr>
              <a:t>terjadi</a:t>
            </a:r>
            <a:r>
              <a:rPr lang="en-US" sz="2000" dirty="0">
                <a:latin typeface="+mn-lt"/>
              </a:rPr>
              <a:t> pada </a:t>
            </a:r>
            <a:r>
              <a:rPr lang="en-US" sz="2000" dirty="0" err="1">
                <a:latin typeface="+mn-lt"/>
              </a:rPr>
              <a:t>bulan</a:t>
            </a:r>
            <a:r>
              <a:rPr lang="en-US" sz="2000" dirty="0">
                <a:latin typeface="+mn-lt"/>
              </a:rPr>
              <a:t> April.</a:t>
            </a:r>
          </a:p>
          <a:p>
            <a:pPr marL="457200" lvl="0" indent="-355600">
              <a:lnSpc>
                <a:spcPct val="115000"/>
              </a:lnSpc>
              <a:spcBef>
                <a:spcPts val="1000"/>
              </a:spcBef>
              <a:buSzPts val="2000"/>
              <a:buFont typeface="Montserrat"/>
              <a:buChar char="➔"/>
            </a:pPr>
            <a:r>
              <a:rPr lang="en-US" sz="2000" dirty="0" err="1">
                <a:latin typeface="+mn-lt"/>
                <a:ea typeface="Montserrat"/>
                <a:cs typeface="Montserrat"/>
                <a:sym typeface="Montserrat"/>
              </a:rPr>
              <a:t>Prancis</a:t>
            </a:r>
            <a:r>
              <a:rPr lang="en-US" sz="2000" dirty="0">
                <a:latin typeface="+mn-lt"/>
                <a:ea typeface="Montserrat"/>
                <a:cs typeface="Montserrat"/>
                <a:sym typeface="Montserrat"/>
              </a:rPr>
              <a:t> </a:t>
            </a:r>
            <a:r>
              <a:rPr lang="en-US" sz="2000" dirty="0" err="1">
                <a:latin typeface="+mn-lt"/>
                <a:ea typeface="Montserrat"/>
                <a:cs typeface="Montserrat"/>
                <a:sym typeface="Montserrat"/>
              </a:rPr>
              <a:t>merupakan</a:t>
            </a:r>
            <a:r>
              <a:rPr lang="en-US" sz="2000" dirty="0">
                <a:latin typeface="+mn-lt"/>
                <a:ea typeface="Montserrat"/>
                <a:cs typeface="Montserrat"/>
                <a:sym typeface="Montserrat"/>
              </a:rPr>
              <a:t> negara </a:t>
            </a:r>
            <a:r>
              <a:rPr lang="en-US" sz="2000" dirty="0" err="1">
                <a:latin typeface="+mn-lt"/>
                <a:ea typeface="Montserrat"/>
                <a:cs typeface="Montserrat"/>
                <a:sym typeface="Montserrat"/>
              </a:rPr>
              <a:t>dengan</a:t>
            </a:r>
            <a:r>
              <a:rPr lang="en-US" sz="2000" dirty="0">
                <a:latin typeface="+mn-lt"/>
                <a:ea typeface="Montserrat"/>
                <a:cs typeface="Montserrat"/>
                <a:sym typeface="Montserrat"/>
              </a:rPr>
              <a:t> r</a:t>
            </a:r>
            <a:r>
              <a:rPr lang="en-US" sz="2000" dirty="0">
                <a:latin typeface="+mn-lt"/>
              </a:rPr>
              <a:t>ata-rata </a:t>
            </a:r>
            <a:r>
              <a:rPr lang="en-US" sz="2000" dirty="0" err="1">
                <a:latin typeface="+mn-lt"/>
              </a:rPr>
              <a:t>popularitas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tertinggi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untuk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lagu</a:t>
            </a:r>
            <a:r>
              <a:rPr lang="en-US" sz="2000" dirty="0">
                <a:latin typeface="+mn-lt"/>
              </a:rPr>
              <a:t> pop.</a:t>
            </a:r>
            <a:endParaRPr lang="en-US" sz="2000" dirty="0">
              <a:latin typeface="+mn-l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0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goritmika (May 2021)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833AE0"/>
      </a:accent1>
      <a:accent2>
        <a:srgbClr val="FF7842"/>
      </a:accent2>
      <a:accent3>
        <a:srgbClr val="88DBF2"/>
      </a:accent3>
      <a:accent4>
        <a:srgbClr val="38BD60"/>
      </a:accent4>
      <a:accent5>
        <a:srgbClr val="FA82CC"/>
      </a:accent5>
      <a:accent6>
        <a:srgbClr val="FFDC40"/>
      </a:accent6>
      <a:hlink>
        <a:srgbClr val="833AE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lgoritmika (May 2021) 02">
  <a:themeElements>
    <a:clrScheme name="Simple Light">
      <a:dk1>
        <a:srgbClr val="000000"/>
      </a:dk1>
      <a:lt1>
        <a:srgbClr val="FFFFFE"/>
      </a:lt1>
      <a:dk2>
        <a:srgbClr val="5E5EFF"/>
      </a:dk2>
      <a:lt2>
        <a:srgbClr val="8EE85D"/>
      </a:lt2>
      <a:accent1>
        <a:srgbClr val="833AE0"/>
      </a:accent1>
      <a:accent2>
        <a:srgbClr val="FF7842"/>
      </a:accent2>
      <a:accent3>
        <a:srgbClr val="88DBF2"/>
      </a:accent3>
      <a:accent4>
        <a:srgbClr val="38BD60"/>
      </a:accent4>
      <a:accent5>
        <a:srgbClr val="FA82CC"/>
      </a:accent5>
      <a:accent6>
        <a:srgbClr val="FFDC40"/>
      </a:accent6>
      <a:hlink>
        <a:srgbClr val="833AE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lgoritmika (May 2021)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184</Words>
  <Application>Microsoft Office PowerPoint</Application>
  <PresentationFormat>On-screen Show (16:9)</PresentationFormat>
  <Paragraphs>23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Montserrat ExtraBold</vt:lpstr>
      <vt:lpstr>Montserrat Medium</vt:lpstr>
      <vt:lpstr>Arial</vt:lpstr>
      <vt:lpstr>Montserrat</vt:lpstr>
      <vt:lpstr>Montserrat Black</vt:lpstr>
      <vt:lpstr>Algoritmika (May 2021)</vt:lpstr>
      <vt:lpstr>Algoritmika (May 2021) 02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Hazza Nayo</cp:lastModifiedBy>
  <cp:revision>3</cp:revision>
  <dcterms:modified xsi:type="dcterms:W3CDTF">2026-01-11T10:00:42Z</dcterms:modified>
</cp:coreProperties>
</file>